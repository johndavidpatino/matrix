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7" r:id="rId2"/>
    <p:sldId id="306" r:id="rId3"/>
    <p:sldId id="302" r:id="rId4"/>
    <p:sldId id="304" r:id="rId5"/>
    <p:sldId id="307" r:id="rId6"/>
    <p:sldId id="308" r:id="rId7"/>
    <p:sldId id="309" r:id="rId8"/>
    <p:sldId id="310" r:id="rId9"/>
    <p:sldId id="311" r:id="rId10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7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73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50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648" y="60"/>
      </p:cViewPr>
      <p:guideLst>
        <p:guide orient="horz" pos="527"/>
        <p:guide pos="2880"/>
        <p:guide orient="horz" pos="73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267A2-3E40-4A96-85ED-FF169D4260B9}" type="datetimeFigureOut">
              <a:rPr lang="es-CO" smtClean="0"/>
              <a:t>11/07/2018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1D102-56DC-4563-8394-5F773C0B4A0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1671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7" name="6 Rectángulo"/>
          <p:cNvSpPr/>
          <p:nvPr userDrawn="1"/>
        </p:nvSpPr>
        <p:spPr>
          <a:xfrm>
            <a:off x="0" y="6453336"/>
            <a:ext cx="7128000" cy="144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7 Rectángulo"/>
          <p:cNvSpPr/>
          <p:nvPr userDrawn="1"/>
        </p:nvSpPr>
        <p:spPr>
          <a:xfrm>
            <a:off x="0" y="6635511"/>
            <a:ext cx="7128000" cy="144016"/>
          </a:xfrm>
          <a:prstGeom prst="rect">
            <a:avLst/>
          </a:prstGeom>
          <a:solidFill>
            <a:srgbClr val="677BB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26" name="Picture 2" descr="https://pbs.twimg.com/profile_images/2238171286/logoipso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2088" cy="73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ipsos.de/assets/files/images/ipsos-logos/ipsos_healthcare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2"/>
          <a:stretch/>
        </p:blipFill>
        <p:spPr bwMode="auto">
          <a:xfrm>
            <a:off x="7158934" y="6406271"/>
            <a:ext cx="1949570" cy="36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83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7" name="6 Rectángulo"/>
          <p:cNvSpPr/>
          <p:nvPr userDrawn="1"/>
        </p:nvSpPr>
        <p:spPr>
          <a:xfrm>
            <a:off x="0" y="6453336"/>
            <a:ext cx="7128000" cy="144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7 Rectángulo"/>
          <p:cNvSpPr/>
          <p:nvPr userDrawn="1"/>
        </p:nvSpPr>
        <p:spPr>
          <a:xfrm>
            <a:off x="0" y="6635511"/>
            <a:ext cx="7128000" cy="144016"/>
          </a:xfrm>
          <a:prstGeom prst="rect">
            <a:avLst/>
          </a:prstGeom>
          <a:solidFill>
            <a:srgbClr val="677BB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26" name="Picture 2" descr="https://pbs.twimg.com/profile_images/2238171286/logoipso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2088" cy="73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ipsos.de/assets/files/images/ipsos-logos/ipsos_healthcare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2"/>
          <a:stretch/>
        </p:blipFill>
        <p:spPr bwMode="auto">
          <a:xfrm>
            <a:off x="7158934" y="6406271"/>
            <a:ext cx="1949570" cy="36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53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7" name="6 Rectángulo"/>
          <p:cNvSpPr/>
          <p:nvPr userDrawn="1"/>
        </p:nvSpPr>
        <p:spPr>
          <a:xfrm>
            <a:off x="0" y="6453336"/>
            <a:ext cx="7128000" cy="144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7 Rectángulo"/>
          <p:cNvSpPr/>
          <p:nvPr userDrawn="1"/>
        </p:nvSpPr>
        <p:spPr>
          <a:xfrm>
            <a:off x="0" y="6635511"/>
            <a:ext cx="7128000" cy="144016"/>
          </a:xfrm>
          <a:prstGeom prst="rect">
            <a:avLst/>
          </a:prstGeom>
          <a:solidFill>
            <a:srgbClr val="677BB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26" name="Picture 2" descr="https://pbs.twimg.com/profile_images/2238171286/logoipso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2088" cy="73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ipsos.de/assets/files/images/ipsos-logos/ipsos_healthcare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2"/>
          <a:stretch/>
        </p:blipFill>
        <p:spPr bwMode="auto">
          <a:xfrm>
            <a:off x="7158934" y="6406271"/>
            <a:ext cx="1949570" cy="36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294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630F-907B-4643-A01A-8DBA9935B3F8}" type="datetimeFigureOut">
              <a:rPr lang="es-ES" smtClean="0"/>
              <a:t>11/07/2018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B6D-1476-8D46-9777-EA8CDD581C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11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5D2D4-0940-4251-B7F3-B22B6CA57739}" type="datetimeFigureOut">
              <a:rPr lang="es-MX" smtClean="0"/>
              <a:t>11/07/2018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59703-5625-477B-91B7-15DC1BD981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6429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1" r:id="rId2"/>
    <p:sldLayoutId id="2147483673" r:id="rId3"/>
    <p:sldLayoutId id="214748367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/>
          <p:cNvSpPr/>
          <p:nvPr/>
        </p:nvSpPr>
        <p:spPr>
          <a:xfrm>
            <a:off x="2238500" y="786338"/>
            <a:ext cx="4692318" cy="62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/>
          <a:p>
            <a:pPr algn="ctr" defTabSz="914400" fontAlgn="base">
              <a:spcAft>
                <a:spcPct val="0"/>
              </a:spcAft>
              <a:tabLst>
                <a:tab pos="5024438" algn="l"/>
              </a:tabLst>
            </a:pPr>
            <a:r>
              <a:rPr lang="es-ES_tradnl" sz="32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j-ea"/>
                <a:cs typeface="Calibri" pitchFamily="34" charset="0"/>
              </a:rPr>
              <a:t>TARJETA ESCALA DE GUSTO</a:t>
            </a:r>
            <a:endParaRPr lang="es-CO" sz="3200" b="1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+mj-ea"/>
              <a:cs typeface="Calibri" pitchFamily="34" charset="0"/>
            </a:endParaRP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4" y="2409991"/>
            <a:ext cx="995795" cy="1043214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29" y="2434197"/>
            <a:ext cx="983236" cy="994803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422" y="2414971"/>
            <a:ext cx="1002506" cy="1014029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585" y="2396819"/>
            <a:ext cx="1008722" cy="1032181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9451" y="2414971"/>
            <a:ext cx="1008722" cy="996713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458" y="2381419"/>
            <a:ext cx="1054370" cy="1066630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0776" y="2383356"/>
            <a:ext cx="1054794" cy="1017999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6961" y="2309035"/>
            <a:ext cx="1066917" cy="1092320"/>
          </a:xfrm>
          <a:prstGeom prst="rect">
            <a:avLst/>
          </a:prstGeom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5634" y="2309035"/>
            <a:ext cx="1062953" cy="1100916"/>
          </a:xfrm>
          <a:prstGeom prst="rect">
            <a:avLst/>
          </a:prstGeom>
        </p:spPr>
      </p:pic>
      <p:graphicFrame>
        <p:nvGraphicFramePr>
          <p:cNvPr id="25" name="Tabla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372600"/>
              </p:ext>
            </p:extLst>
          </p:nvPr>
        </p:nvGraphicFramePr>
        <p:xfrm>
          <a:off x="39934" y="3448049"/>
          <a:ext cx="9048653" cy="94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5302">
                  <a:extLst>
                    <a:ext uri="{9D8B030D-6E8A-4147-A177-3AD203B41FA5}">
                      <a16:colId xmlns:a16="http://schemas.microsoft.com/office/drawing/2014/main" val="2345545152"/>
                    </a:ext>
                  </a:extLst>
                </a:gridCol>
                <a:gridCol w="942109">
                  <a:extLst>
                    <a:ext uri="{9D8B030D-6E8A-4147-A177-3AD203B41FA5}">
                      <a16:colId xmlns:a16="http://schemas.microsoft.com/office/drawing/2014/main" val="2117525554"/>
                    </a:ext>
                  </a:extLst>
                </a:gridCol>
                <a:gridCol w="1024350">
                  <a:extLst>
                    <a:ext uri="{9D8B030D-6E8A-4147-A177-3AD203B41FA5}">
                      <a16:colId xmlns:a16="http://schemas.microsoft.com/office/drawing/2014/main" val="1310032262"/>
                    </a:ext>
                  </a:extLst>
                </a:gridCol>
                <a:gridCol w="901432">
                  <a:extLst>
                    <a:ext uri="{9D8B030D-6E8A-4147-A177-3AD203B41FA5}">
                      <a16:colId xmlns:a16="http://schemas.microsoft.com/office/drawing/2014/main" val="1615297202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1259912733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1181692889"/>
                    </a:ext>
                  </a:extLst>
                </a:gridCol>
                <a:gridCol w="1052946">
                  <a:extLst>
                    <a:ext uri="{9D8B030D-6E8A-4147-A177-3AD203B41FA5}">
                      <a16:colId xmlns:a16="http://schemas.microsoft.com/office/drawing/2014/main" val="189952561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077353157"/>
                    </a:ext>
                  </a:extLst>
                </a:gridCol>
                <a:gridCol w="1066805">
                  <a:extLst>
                    <a:ext uri="{9D8B030D-6E8A-4147-A177-3AD203B41FA5}">
                      <a16:colId xmlns:a16="http://schemas.microsoft.com/office/drawing/2014/main" val="3265068865"/>
                    </a:ext>
                  </a:extLst>
                </a:gridCol>
              </a:tblGrid>
              <a:tr h="784893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Me gusta</a:t>
                      </a:r>
                    </a:p>
                    <a:p>
                      <a:pPr algn="ctr"/>
                      <a:r>
                        <a:rPr lang="es-MX" sz="1400" dirty="0"/>
                        <a:t>Muchísimo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Me gusta</a:t>
                      </a:r>
                    </a:p>
                    <a:p>
                      <a:pPr algn="ctr"/>
                      <a:r>
                        <a:rPr lang="es-MX" sz="1400" dirty="0"/>
                        <a:t>Mucho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Me gusta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Me</a:t>
                      </a:r>
                      <a:r>
                        <a:rPr lang="es-MX" sz="1400" baseline="0" dirty="0"/>
                        <a:t> gusta un poco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Ni</a:t>
                      </a:r>
                      <a:r>
                        <a:rPr lang="es-MX" sz="1400" baseline="0" dirty="0"/>
                        <a:t> me gusta</a:t>
                      </a:r>
                    </a:p>
                    <a:p>
                      <a:pPr algn="ctr"/>
                      <a:r>
                        <a:rPr lang="es-MX" sz="1400" baseline="0" dirty="0"/>
                        <a:t>Ni me </a:t>
                      </a:r>
                    </a:p>
                    <a:p>
                      <a:pPr algn="ctr"/>
                      <a:r>
                        <a:rPr lang="es-MX" sz="1400" baseline="0" dirty="0"/>
                        <a:t>disgusta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Me</a:t>
                      </a:r>
                      <a:r>
                        <a:rPr lang="es-MX" sz="1400" baseline="0" dirty="0"/>
                        <a:t> disgusta</a:t>
                      </a:r>
                    </a:p>
                    <a:p>
                      <a:pPr algn="ctr"/>
                      <a:r>
                        <a:rPr lang="es-MX" sz="1400" baseline="0" dirty="0"/>
                        <a:t>Un poco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Me</a:t>
                      </a:r>
                      <a:r>
                        <a:rPr lang="es-MX" sz="1400" baseline="0" dirty="0"/>
                        <a:t> disgusta</a:t>
                      </a:r>
                    </a:p>
                    <a:p>
                      <a:pPr algn="ctr"/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Me disgusta</a:t>
                      </a:r>
                    </a:p>
                    <a:p>
                      <a:pPr algn="ctr"/>
                      <a:r>
                        <a:rPr lang="es-MX" sz="1400" dirty="0"/>
                        <a:t>Mucho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Me disgusta</a:t>
                      </a:r>
                    </a:p>
                    <a:p>
                      <a:pPr algn="ctr"/>
                      <a:r>
                        <a:rPr lang="es-MX" sz="1400" dirty="0"/>
                        <a:t>Muchísimo</a:t>
                      </a:r>
                      <a:endParaRPr lang="es-CO" sz="1400" dirty="0"/>
                    </a:p>
                    <a:p>
                      <a:pPr algn="ctr"/>
                      <a:endParaRPr lang="es-CO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073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8833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F0E7AF4-EC0F-40B7-BECB-4BDB229CAC78}"/>
              </a:ext>
            </a:extLst>
          </p:cNvPr>
          <p:cNvSpPr/>
          <p:nvPr/>
        </p:nvSpPr>
        <p:spPr>
          <a:xfrm>
            <a:off x="2225841" y="574303"/>
            <a:ext cx="4692318" cy="62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/>
          <a:p>
            <a:pPr algn="ctr" defTabSz="914400" fontAlgn="base">
              <a:spcAft>
                <a:spcPct val="0"/>
              </a:spcAft>
              <a:tabLst>
                <a:tab pos="5024438" algn="l"/>
              </a:tabLst>
            </a:pPr>
            <a:r>
              <a:rPr lang="es-ES_tradnl" sz="32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j-ea"/>
                <a:cs typeface="Calibri" pitchFamily="34" charset="0"/>
              </a:rPr>
              <a:t>TARJETA - COLOR</a:t>
            </a:r>
            <a:endParaRPr lang="es-CO" sz="3200" b="1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+mj-ea"/>
              <a:cs typeface="Calibri" pitchFamily="34" charset="0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061317"/>
              </p:ext>
            </p:extLst>
          </p:nvPr>
        </p:nvGraphicFramePr>
        <p:xfrm>
          <a:off x="2719773" y="2092036"/>
          <a:ext cx="3704454" cy="2477778"/>
        </p:xfrm>
        <a:graphic>
          <a:graphicData uri="http://schemas.openxmlformats.org/drawingml/2006/table">
            <a:tbl>
              <a:tblPr/>
              <a:tblGrid>
                <a:gridCol w="3704454">
                  <a:extLst>
                    <a:ext uri="{9D8B030D-6E8A-4147-A177-3AD203B41FA5}">
                      <a16:colId xmlns:a16="http://schemas.microsoft.com/office/drawing/2014/main" val="327905571"/>
                    </a:ext>
                  </a:extLst>
                </a:gridCol>
              </a:tblGrid>
              <a:tr h="475726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Mucho más claro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986489"/>
                  </a:ext>
                </a:extLst>
              </a:tr>
              <a:tr h="500513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Algo más claro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648112"/>
                  </a:ext>
                </a:extLst>
              </a:tr>
              <a:tr h="500513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Justo el color como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691088"/>
                  </a:ext>
                </a:extLst>
              </a:tr>
              <a:tr h="500513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Algo más oscuro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299178"/>
                  </a:ext>
                </a:extLst>
              </a:tr>
              <a:tr h="500513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Mucho más oscuro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875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366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21"/>
          <p:cNvSpPr/>
          <p:nvPr/>
        </p:nvSpPr>
        <p:spPr>
          <a:xfrm>
            <a:off x="2238500" y="473575"/>
            <a:ext cx="4692318" cy="62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/>
          <a:p>
            <a:pPr algn="ctr" defTabSz="914400" fontAlgn="base">
              <a:spcAft>
                <a:spcPct val="0"/>
              </a:spcAft>
              <a:tabLst>
                <a:tab pos="5024438" algn="l"/>
              </a:tabLst>
            </a:pPr>
            <a:r>
              <a:rPr lang="es-ES_tradnl" sz="32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j-ea"/>
                <a:cs typeface="Calibri" pitchFamily="34" charset="0"/>
              </a:rPr>
              <a:t>TARJETA -AROMA</a:t>
            </a:r>
            <a:endParaRPr lang="es-CO" sz="3200" b="1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+mj-ea"/>
              <a:cs typeface="Calibri" pitchFamily="34" charset="0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665236"/>
              </p:ext>
            </p:extLst>
          </p:nvPr>
        </p:nvGraphicFramePr>
        <p:xfrm>
          <a:off x="2569515" y="2224125"/>
          <a:ext cx="4205358" cy="1932240"/>
        </p:xfrm>
        <a:graphic>
          <a:graphicData uri="http://schemas.openxmlformats.org/drawingml/2006/table">
            <a:tbl>
              <a:tblPr/>
              <a:tblGrid>
                <a:gridCol w="4205358">
                  <a:extLst>
                    <a:ext uri="{9D8B030D-6E8A-4147-A177-3AD203B41FA5}">
                      <a16:colId xmlns:a16="http://schemas.microsoft.com/office/drawing/2014/main" val="4150028935"/>
                    </a:ext>
                  </a:extLst>
                </a:gridCol>
              </a:tblGrid>
              <a:tr h="386448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Mucho más aroma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651915"/>
                  </a:ext>
                </a:extLst>
              </a:tr>
              <a:tr h="386448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Algo más aroma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497316"/>
                  </a:ext>
                </a:extLst>
              </a:tr>
              <a:tr h="386448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Justo el aroma como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32171"/>
                  </a:ext>
                </a:extLst>
              </a:tr>
              <a:tr h="386448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Algo menos aroma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411172"/>
                  </a:ext>
                </a:extLst>
              </a:tr>
              <a:tr h="386448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Mucho menos aroma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395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23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21"/>
          <p:cNvSpPr/>
          <p:nvPr/>
        </p:nvSpPr>
        <p:spPr>
          <a:xfrm>
            <a:off x="1914040" y="472239"/>
            <a:ext cx="5964420" cy="62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Autofit/>
          </a:bodyPr>
          <a:lstStyle/>
          <a:p>
            <a:pPr algn="ctr" defTabSz="914400" fontAlgn="base">
              <a:spcAft>
                <a:spcPct val="0"/>
              </a:spcAft>
              <a:tabLst>
                <a:tab pos="5024438" algn="l"/>
              </a:tabLst>
            </a:pPr>
            <a:r>
              <a:rPr lang="es-ES_tradnl" sz="32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j-ea"/>
                <a:cs typeface="Calibri" pitchFamily="34" charset="0"/>
              </a:rPr>
              <a:t>TARJETA - INTENSIDAD DEL SABOR</a:t>
            </a:r>
            <a:endParaRPr lang="es-CO" sz="3200" b="1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+mj-ea"/>
              <a:cs typeface="Calibri" pitchFamily="34" charset="0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696381"/>
              </p:ext>
            </p:extLst>
          </p:nvPr>
        </p:nvGraphicFramePr>
        <p:xfrm>
          <a:off x="2662185" y="2466474"/>
          <a:ext cx="3858438" cy="1609265"/>
        </p:xfrm>
        <a:graphic>
          <a:graphicData uri="http://schemas.openxmlformats.org/drawingml/2006/table">
            <a:tbl>
              <a:tblPr/>
              <a:tblGrid>
                <a:gridCol w="3858438">
                  <a:extLst>
                    <a:ext uri="{9D8B030D-6E8A-4147-A177-3AD203B41FA5}">
                      <a16:colId xmlns:a16="http://schemas.microsoft.com/office/drawing/2014/main" val="2890515310"/>
                    </a:ext>
                  </a:extLst>
                </a:gridCol>
              </a:tblGrid>
              <a:tr h="32185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_tradnl" sz="180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Mucho más fuerte de lo que me gusta</a:t>
                      </a:r>
                      <a:endParaRPr lang="es-CO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051946"/>
                  </a:ext>
                </a:extLst>
              </a:tr>
              <a:tr h="32185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_tradnl" sz="180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Un poco más fuerte de lo que me gusta</a:t>
                      </a:r>
                      <a:endParaRPr lang="es-CO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723566"/>
                  </a:ext>
                </a:extLst>
              </a:tr>
              <a:tr h="32185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_tradnl" sz="180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El sabor es justo como me gusta</a:t>
                      </a:r>
                      <a:endParaRPr lang="es-CO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966383"/>
                  </a:ext>
                </a:extLst>
              </a:tr>
              <a:tr h="32185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_tradnl" sz="180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Un poco más suave de lo que me gusta</a:t>
                      </a:r>
                      <a:endParaRPr lang="es-CO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716484"/>
                  </a:ext>
                </a:extLst>
              </a:tr>
              <a:tr h="32185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_tradnl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Mucho más suave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754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72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21">
            <a:extLst>
              <a:ext uri="{FF2B5EF4-FFF2-40B4-BE49-F238E27FC236}">
                <a16:creationId xmlns:a16="http://schemas.microsoft.com/office/drawing/2014/main" id="{C5ACA11A-C879-409D-AAD0-A2441D417389}"/>
              </a:ext>
            </a:extLst>
          </p:cNvPr>
          <p:cNvSpPr/>
          <p:nvPr/>
        </p:nvSpPr>
        <p:spPr>
          <a:xfrm>
            <a:off x="2225841" y="632601"/>
            <a:ext cx="4692318" cy="62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/>
          <a:p>
            <a:pPr algn="ctr" defTabSz="914400" fontAlgn="base">
              <a:spcAft>
                <a:spcPct val="0"/>
              </a:spcAft>
              <a:tabLst>
                <a:tab pos="5024438" algn="l"/>
              </a:tabLst>
            </a:pPr>
            <a:r>
              <a:rPr lang="es-ES_tradnl" sz="32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j-ea"/>
                <a:cs typeface="Calibri" pitchFamily="34" charset="0"/>
              </a:rPr>
              <a:t>TARJETA – NIVEL DE DULCE</a:t>
            </a:r>
            <a:endParaRPr lang="es-CO" sz="3200" b="1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+mj-ea"/>
              <a:cs typeface="Calibri" pitchFamily="34" charset="0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532745"/>
              </p:ext>
            </p:extLst>
          </p:nvPr>
        </p:nvGraphicFramePr>
        <p:xfrm>
          <a:off x="2616996" y="2317719"/>
          <a:ext cx="3910007" cy="1681455"/>
        </p:xfrm>
        <a:graphic>
          <a:graphicData uri="http://schemas.openxmlformats.org/drawingml/2006/table">
            <a:tbl>
              <a:tblPr firstRow="1" firstCol="1" bandRow="1"/>
              <a:tblGrid>
                <a:gridCol w="3910007">
                  <a:extLst>
                    <a:ext uri="{9D8B030D-6E8A-4147-A177-3AD203B41FA5}">
                      <a16:colId xmlns:a16="http://schemas.microsoft.com/office/drawing/2014/main" val="745963942"/>
                    </a:ext>
                  </a:extLst>
                </a:gridCol>
              </a:tblGrid>
              <a:tr h="33629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Mucho más dulce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732947"/>
                  </a:ext>
                </a:extLst>
              </a:tr>
              <a:tr h="33629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Un poco más dulce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2613434"/>
                  </a:ext>
                </a:extLst>
              </a:tr>
              <a:tr h="33629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Justo como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174406"/>
                  </a:ext>
                </a:extLst>
              </a:tr>
              <a:tr h="33629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Un poco menos dulce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883116"/>
                  </a:ext>
                </a:extLst>
              </a:tr>
              <a:tr h="33629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Mucho menos dulce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856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43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21">
            <a:extLst>
              <a:ext uri="{FF2B5EF4-FFF2-40B4-BE49-F238E27FC236}">
                <a16:creationId xmlns:a16="http://schemas.microsoft.com/office/drawing/2014/main" id="{B52FFEF5-A5CB-4589-8A9D-1CFC600F820D}"/>
              </a:ext>
            </a:extLst>
          </p:cNvPr>
          <p:cNvSpPr/>
          <p:nvPr/>
        </p:nvSpPr>
        <p:spPr>
          <a:xfrm>
            <a:off x="2225841" y="849926"/>
            <a:ext cx="4692318" cy="62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/>
          <a:p>
            <a:pPr algn="ctr" defTabSz="914400" fontAlgn="base">
              <a:spcAft>
                <a:spcPct val="0"/>
              </a:spcAft>
              <a:tabLst>
                <a:tab pos="5024438" algn="l"/>
              </a:tabLst>
            </a:pPr>
            <a:r>
              <a:rPr lang="es-ES_tradnl" sz="32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j-ea"/>
                <a:cs typeface="Calibri" pitchFamily="34" charset="0"/>
              </a:rPr>
              <a:t>TARJETA - CONSISTENCIA</a:t>
            </a:r>
            <a:endParaRPr lang="es-CO" sz="3200" b="1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+mj-ea"/>
              <a:cs typeface="Calibri" pitchFamily="34" charset="0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775553"/>
              </p:ext>
            </p:extLst>
          </p:nvPr>
        </p:nvGraphicFramePr>
        <p:xfrm>
          <a:off x="2698284" y="2249174"/>
          <a:ext cx="3747431" cy="1900990"/>
        </p:xfrm>
        <a:graphic>
          <a:graphicData uri="http://schemas.openxmlformats.org/drawingml/2006/table">
            <a:tbl>
              <a:tblPr/>
              <a:tblGrid>
                <a:gridCol w="3747431">
                  <a:extLst>
                    <a:ext uri="{9D8B030D-6E8A-4147-A177-3AD203B41FA5}">
                      <a16:colId xmlns:a16="http://schemas.microsoft.com/office/drawing/2014/main" val="1432355389"/>
                    </a:ext>
                  </a:extLst>
                </a:gridCol>
              </a:tblGrid>
              <a:tr h="3801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Mucho más ligera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8326131"/>
                  </a:ext>
                </a:extLst>
              </a:tr>
              <a:tr h="3801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Algo más ligera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612390"/>
                  </a:ext>
                </a:extLst>
              </a:tr>
              <a:tr h="3801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Justo como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051404"/>
                  </a:ext>
                </a:extLst>
              </a:tr>
              <a:tr h="3801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Algo más espesa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3460412"/>
                  </a:ext>
                </a:extLst>
              </a:tr>
              <a:tr h="380198">
                <a:tc>
                  <a:txBody>
                    <a:bodyPr/>
                    <a:lstStyle/>
                    <a:p>
                      <a:pPr marR="45720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Mucho más espesa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650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48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21">
            <a:extLst>
              <a:ext uri="{FF2B5EF4-FFF2-40B4-BE49-F238E27FC236}">
                <a16:creationId xmlns:a16="http://schemas.microsoft.com/office/drawing/2014/main" id="{89ABE672-1EB9-403B-85E9-DE7B9993EF05}"/>
              </a:ext>
            </a:extLst>
          </p:cNvPr>
          <p:cNvSpPr/>
          <p:nvPr/>
        </p:nvSpPr>
        <p:spPr>
          <a:xfrm>
            <a:off x="1745796" y="570585"/>
            <a:ext cx="6650059" cy="62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Autofit/>
          </a:bodyPr>
          <a:lstStyle/>
          <a:p>
            <a:pPr algn="ctr" defTabSz="914400" fontAlgn="base">
              <a:spcAft>
                <a:spcPct val="0"/>
              </a:spcAft>
              <a:tabLst>
                <a:tab pos="5024438" algn="l"/>
              </a:tabLst>
            </a:pPr>
            <a:r>
              <a:rPr lang="es-ES_tradnl" sz="32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j-ea"/>
                <a:cs typeface="Calibri" pitchFamily="34" charset="0"/>
              </a:rPr>
              <a:t>TARJETA – CANTIDAD DEL SABOR QUE DEJO EN LA BOCA</a:t>
            </a:r>
            <a:endParaRPr lang="es-CO" sz="3200" b="1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+mj-ea"/>
              <a:cs typeface="Calibri" pitchFamily="34" charset="0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433422"/>
              </p:ext>
            </p:extLst>
          </p:nvPr>
        </p:nvGraphicFramePr>
        <p:xfrm>
          <a:off x="2590923" y="2283032"/>
          <a:ext cx="3919331" cy="1861930"/>
        </p:xfrm>
        <a:graphic>
          <a:graphicData uri="http://schemas.openxmlformats.org/drawingml/2006/table">
            <a:tbl>
              <a:tblPr/>
              <a:tblGrid>
                <a:gridCol w="3919331">
                  <a:extLst>
                    <a:ext uri="{9D8B030D-6E8A-4147-A177-3AD203B41FA5}">
                      <a16:colId xmlns:a16="http://schemas.microsoft.com/office/drawing/2014/main" val="3864306315"/>
                    </a:ext>
                  </a:extLst>
                </a:gridCol>
              </a:tblGrid>
              <a:tr h="372386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s-ES_tradnl" sz="180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Mucho más fuerte de lo que me gusta</a:t>
                      </a:r>
                      <a:endParaRPr lang="es-CO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875032"/>
                  </a:ext>
                </a:extLst>
              </a:tr>
              <a:tr h="372386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s-ES_tradnl" sz="180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Un poco más fuerte de lo que me gusta</a:t>
                      </a:r>
                      <a:endParaRPr lang="es-CO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793010"/>
                  </a:ext>
                </a:extLst>
              </a:tr>
              <a:tr h="372386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s-ES_tradnl" sz="180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Justo como me gusta </a:t>
                      </a:r>
                      <a:endParaRPr lang="es-CO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10085"/>
                  </a:ext>
                </a:extLst>
              </a:tr>
              <a:tr h="372386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s-ES_tradnl" sz="180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Un poco más débil de lo que me gusta</a:t>
                      </a:r>
                      <a:endParaRPr lang="es-CO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6258811"/>
                  </a:ext>
                </a:extLst>
              </a:tr>
              <a:tr h="372386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s-ES_tradnl" sz="1800" dirty="0"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Mucho más débil de lo que me gusta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400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010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21">
            <a:extLst>
              <a:ext uri="{FF2B5EF4-FFF2-40B4-BE49-F238E27FC236}">
                <a16:creationId xmlns:a16="http://schemas.microsoft.com/office/drawing/2014/main" id="{B9B573EE-0922-4216-A104-5D6392AC0438}"/>
              </a:ext>
            </a:extLst>
          </p:cNvPr>
          <p:cNvSpPr/>
          <p:nvPr/>
        </p:nvSpPr>
        <p:spPr>
          <a:xfrm>
            <a:off x="1846425" y="690900"/>
            <a:ext cx="5613344" cy="62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Autofit/>
          </a:bodyPr>
          <a:lstStyle/>
          <a:p>
            <a:pPr algn="ctr" defTabSz="914400" fontAlgn="base">
              <a:spcAft>
                <a:spcPct val="0"/>
              </a:spcAft>
              <a:tabLst>
                <a:tab pos="5024438" algn="l"/>
              </a:tabLst>
            </a:pPr>
            <a:r>
              <a:rPr lang="es-ES_tradnl" sz="32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j-ea"/>
                <a:cs typeface="Calibri" pitchFamily="34" charset="0"/>
              </a:rPr>
              <a:t>TARJETA – DISPUESTO (A) EN COMPRAR</a:t>
            </a:r>
            <a:endParaRPr lang="es-CO" sz="3200" b="1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+mj-ea"/>
              <a:cs typeface="Calibri" pitchFamily="34" charset="0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22395"/>
              </p:ext>
            </p:extLst>
          </p:nvPr>
        </p:nvGraphicFramePr>
        <p:xfrm>
          <a:off x="2741457" y="2236727"/>
          <a:ext cx="3445793" cy="2004220"/>
        </p:xfrm>
        <a:graphic>
          <a:graphicData uri="http://schemas.openxmlformats.org/drawingml/2006/table">
            <a:tbl>
              <a:tblPr/>
              <a:tblGrid>
                <a:gridCol w="3445793">
                  <a:extLst>
                    <a:ext uri="{9D8B030D-6E8A-4147-A177-3AD203B41FA5}">
                      <a16:colId xmlns:a16="http://schemas.microsoft.com/office/drawing/2014/main" val="3044109726"/>
                    </a:ext>
                  </a:extLst>
                </a:gridCol>
              </a:tblGrid>
              <a:tr h="4008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_tradnl" sz="18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Definitivamente lo compraría</a:t>
                      </a:r>
                      <a:endParaRPr lang="es-CO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952058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_tradnl" sz="18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Probablemente lo compraría</a:t>
                      </a:r>
                      <a:endParaRPr lang="es-CO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979830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_tradnl" sz="18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Tal vez lo compre o tal vez no</a:t>
                      </a:r>
                      <a:endParaRPr lang="es-CO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33010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_tradnl" sz="18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Probablemente no lo compraría</a:t>
                      </a:r>
                      <a:endParaRPr lang="es-CO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460293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342900" algn="l"/>
                          <a:tab pos="4114800" algn="l"/>
                        </a:tabLst>
                      </a:pPr>
                      <a:r>
                        <a:rPr lang="es-ES_tradnl" sz="18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Definitivamente no lo compraría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72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471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21">
            <a:extLst>
              <a:ext uri="{FF2B5EF4-FFF2-40B4-BE49-F238E27FC236}">
                <a16:creationId xmlns:a16="http://schemas.microsoft.com/office/drawing/2014/main" id="{B52FFEF5-A5CB-4589-8A9D-1CFC600F820D}"/>
              </a:ext>
            </a:extLst>
          </p:cNvPr>
          <p:cNvSpPr/>
          <p:nvPr/>
        </p:nvSpPr>
        <p:spPr>
          <a:xfrm>
            <a:off x="1749025" y="849926"/>
            <a:ext cx="5645950" cy="62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 fontScale="92500"/>
          </a:bodyPr>
          <a:lstStyle/>
          <a:p>
            <a:pPr algn="ctr" defTabSz="914400" fontAlgn="base">
              <a:spcAft>
                <a:spcPct val="0"/>
              </a:spcAft>
              <a:tabLst>
                <a:tab pos="5024438" algn="l"/>
              </a:tabLst>
            </a:pPr>
            <a:r>
              <a:rPr lang="es-ES_tradnl" sz="32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j-ea"/>
                <a:cs typeface="Calibri" pitchFamily="34" charset="0"/>
              </a:rPr>
              <a:t>TARJETA – INTENCIÓN DE COMPRA</a:t>
            </a:r>
            <a:endParaRPr lang="es-CO" sz="3200" b="1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+mj-ea"/>
              <a:cs typeface="Calibri" pitchFamily="34" charset="0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446663"/>
              </p:ext>
            </p:extLst>
          </p:nvPr>
        </p:nvGraphicFramePr>
        <p:xfrm>
          <a:off x="2217382" y="2438401"/>
          <a:ext cx="4505095" cy="1841882"/>
        </p:xfrm>
        <a:graphic>
          <a:graphicData uri="http://schemas.openxmlformats.org/drawingml/2006/table">
            <a:tbl>
              <a:tblPr/>
              <a:tblGrid>
                <a:gridCol w="4505095">
                  <a:extLst>
                    <a:ext uri="{9D8B030D-6E8A-4147-A177-3AD203B41FA5}">
                      <a16:colId xmlns:a16="http://schemas.microsoft.com/office/drawing/2014/main" val="2665054249"/>
                    </a:ext>
                  </a:extLst>
                </a:gridCol>
              </a:tblGrid>
              <a:tr h="372301">
                <a:tc>
                  <a:txBody>
                    <a:bodyPr/>
                    <a:lstStyle/>
                    <a:p>
                      <a:pPr marL="7112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Lo compraría en adición a mi producto actual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34997"/>
                  </a:ext>
                </a:extLst>
              </a:tr>
              <a:tr h="372301">
                <a:tc>
                  <a:txBody>
                    <a:bodyPr/>
                    <a:lstStyle/>
                    <a:p>
                      <a:pPr marL="7112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Lo compraría en reemplazo de mi producto actual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226296"/>
                  </a:ext>
                </a:extLst>
              </a:tr>
              <a:tr h="372301">
                <a:tc>
                  <a:txBody>
                    <a:bodyPr/>
                    <a:lstStyle/>
                    <a:p>
                      <a:pPr marL="7112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No lo compraría 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861281"/>
                  </a:ext>
                </a:extLst>
              </a:tr>
              <a:tr h="372301">
                <a:tc>
                  <a:txBody>
                    <a:bodyPr/>
                    <a:lstStyle/>
                    <a:p>
                      <a:pPr marL="7112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Lo compraría para alternar a mi producto actual</a:t>
                      </a:r>
                      <a:endParaRPr lang="es-CO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6689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18641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1261</TotalTime>
  <Words>354</Words>
  <Application>Microsoft Office PowerPoint</Application>
  <PresentationFormat>Presentación en pantalla (4:3)</PresentationFormat>
  <Paragraphs>64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MS Mincho</vt:lpstr>
      <vt:lpstr>Arial</vt:lpstr>
      <vt:lpstr>Calibri</vt:lpstr>
      <vt:lpstr>Calibri Light</vt:lpstr>
      <vt:lpstr>Times New Roman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Abigail Reyes</dc:creator>
  <cp:lastModifiedBy>Andres Mejia</cp:lastModifiedBy>
  <cp:revision>124</cp:revision>
  <dcterms:created xsi:type="dcterms:W3CDTF">2016-09-28T00:25:49Z</dcterms:created>
  <dcterms:modified xsi:type="dcterms:W3CDTF">2018-07-11T22:46:22Z</dcterms:modified>
</cp:coreProperties>
</file>